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itali pawar" userId="dfa4f80eb09f454a" providerId="LiveId" clId="{E597FD63-3256-409C-A5F9-B70ADAF36068}"/>
    <pc:docChg chg="modSld">
      <pc:chgData name="chaitali pawar" userId="dfa4f80eb09f454a" providerId="LiveId" clId="{E597FD63-3256-409C-A5F9-B70ADAF36068}" dt="2025-10-10T16:15:25.387" v="1" actId="1076"/>
      <pc:docMkLst>
        <pc:docMk/>
      </pc:docMkLst>
      <pc:sldChg chg="modSp mod">
        <pc:chgData name="chaitali pawar" userId="dfa4f80eb09f454a" providerId="LiveId" clId="{E597FD63-3256-409C-A5F9-B70ADAF36068}" dt="2025-10-10T16:15:25.387" v="1" actId="1076"/>
        <pc:sldMkLst>
          <pc:docMk/>
          <pc:sldMk cId="2465447283" sldId="263"/>
        </pc:sldMkLst>
        <pc:picChg chg="mod">
          <ac:chgData name="chaitali pawar" userId="dfa4f80eb09f454a" providerId="LiveId" clId="{E597FD63-3256-409C-A5F9-B70ADAF36068}" dt="2025-10-10T16:15:25.387" v="1" actId="1076"/>
          <ac:picMkLst>
            <pc:docMk/>
            <pc:sldMk cId="2465447283" sldId="263"/>
            <ac:picMk id="5" creationId="{B2C02224-B191-51A9-F4A1-1FFAE6CB2F9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6303E-BA62-4C16-43F3-A8FB483CD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2E23F2-2250-8A8A-C676-7F089FC9C0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0EB9D-5249-446E-E318-54280EA12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49946-3069-462F-8B8D-705D7738E1A1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D44DF-4FDE-A57D-DD35-11A7C2655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45EFD-3CF0-394B-F3A8-70924C6FE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6D63-1251-448C-A009-01FC0D05E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092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4052F-C9D0-B75D-6953-F2EDBB3AC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B5C28-241F-D723-7690-67708C9C4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8F9EF-8809-1A55-F76A-F0D6B0A8A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49946-3069-462F-8B8D-705D7738E1A1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AA2FB-88A8-536C-2022-CD2A1F101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00DFE-914E-FBCB-E592-BCF0BD6C9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6D63-1251-448C-A009-01FC0D05E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571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F911A-DF31-51C0-BF6A-B40DE663E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0A8DD-65A2-C74C-3818-0BBF28A9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8C68-172A-1B1B-7B3E-0F92AFF91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49946-3069-462F-8B8D-705D7738E1A1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AB2D6-517F-D3F8-138C-A2C53D24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98982-1358-2A02-58BF-782D78416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6D63-1251-448C-A009-01FC0D05E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589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FF73C-0027-F47C-3B84-D3D32EF61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79CF3-80FB-84C5-BB55-913EC7F2B8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69EFD-BC78-7A69-A1E5-3BF896A84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6E8FDB-720F-7212-BE2B-C17B0F6A7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49946-3069-462F-8B8D-705D7738E1A1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0824E5-3814-CD1C-CCC6-6DDFAC628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F2C62-268C-A3D2-EFDD-7B50556E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6D63-1251-448C-A009-01FC0D05E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69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A618A-780F-C0CA-9781-3A27187E0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AADAF-7DCF-7031-4545-88C2ACE81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73D44E-0655-FF11-31E4-7CFBEAAA1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1964C-F903-D03F-0C8F-9DB572540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B270A6-BA08-59BA-B5A9-21BFDADD16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09442-AA71-7500-CF6C-40391972F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49946-3069-462F-8B8D-705D7738E1A1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E01246-4D00-638B-82EB-AFEF5F54B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F4FD53-173F-949F-3795-091E77F1E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6D63-1251-448C-A009-01FC0D05E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510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5369B-2965-C01B-7615-680808267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7F31F5-1558-5A5B-32DD-185C3B4CF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49946-3069-462F-8B8D-705D7738E1A1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DD34B1-A463-815E-DD4D-EA34B079D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FF277-C212-9CFA-85F0-E39A7E2A3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6D63-1251-448C-A009-01FC0D05E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45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FCCA46-931F-ABD8-8414-BD24DF392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49946-3069-462F-8B8D-705D7738E1A1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2A9718-82C5-242A-C344-4C6AE8599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03E08-3532-110E-2E51-DE1169570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6D63-1251-448C-A009-01FC0D05E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31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93271-18EB-E269-6143-E84B6245A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1F732-E862-7413-6DA1-8E161296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4FE6B2-8E3A-0BB5-72AD-6B9787242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E990B-AC08-D46B-5D95-BB17B3780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49946-3069-462F-8B8D-705D7738E1A1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49217-3DF9-5BC8-3208-5014E6BEB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DB10C-FE41-51A6-9C90-B862BCFE3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6D63-1251-448C-A009-01FC0D05E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304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282-8CD3-FC5E-B765-D4889D899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601B89-D44B-F8FA-0638-3FBFF3B62B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EC4F65-F026-5F24-1B8B-86B888BFE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C37C8-87C5-05D4-6FAE-49BBE06CF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49946-3069-462F-8B8D-705D7738E1A1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2007F-3330-9A69-3F4D-29CAE2914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838A1-F50B-6FC1-8BB0-22D400B20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6D63-1251-448C-A009-01FC0D05E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4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6B9C6-6FD0-4A59-BC20-8BC697E56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830AB-199D-C6E9-137D-EA06B7552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113B6-A18E-D5C1-5A98-BE92C207C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49946-3069-462F-8B8D-705D7738E1A1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499B7-6E06-6B1D-B99A-B7727473B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01523-BC36-CD10-F0CE-864551757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6D63-1251-448C-A009-01FC0D05E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624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645F0A-3A3A-FA61-368F-AC19A33272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88D7E5-CA10-B90A-3E2E-2B734DDA6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5918E-B4E5-483C-469E-5D695C47D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49946-3069-462F-8B8D-705D7738E1A1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3439-517C-9066-ED25-5EFC2FEBB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02CBE-C388-4DDF-F03E-49101989B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6D63-1251-448C-A009-01FC0D05E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271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938F3-4017-70DC-813E-F3C6C0199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E6247-8C35-1C98-26AD-1AE3DB3A1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7B99-25FE-18B4-97C8-BDCA978AA3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49946-3069-462F-8B8D-705D7738E1A1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AAE9B-51F3-A0E5-90EF-A71D0BE240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9B1E3-3DBB-D2B1-7AF6-6C5A8F6BD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E6D63-1251-448C-A009-01FC0D05E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426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95FED-F134-6BDA-062D-039E8E2758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Performance Analysis of Indian States (2011–2020)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ABDDA3-F87E-D205-01D9-95EA752319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- Analysis based on GSDP, Population growth, inflation,  gender, and </a:t>
            </a:r>
            <a:r>
              <a:rPr lang="en-IN" dirty="0"/>
              <a:t>geographic </a:t>
            </a:r>
            <a:r>
              <a:rPr lang="en-US" dirty="0"/>
              <a:t>areas-wise unemployment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2527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C936E-3DC3-2A92-632C-6A5935FE0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Objective:</a:t>
            </a:r>
          </a:p>
          <a:p>
            <a:r>
              <a:rPr lang="en-US" sz="2400" dirty="0"/>
              <a:t>Track trends in GDP, inflation, and rural/urban unemployment across Indian states from 2011 to 2020.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i="1" dirty="0"/>
              <a:t>Key insights:</a:t>
            </a:r>
            <a:endParaRPr lang="en-US" b="1" dirty="0"/>
          </a:p>
          <a:p>
            <a:r>
              <a:rPr lang="en-US" sz="2400" dirty="0"/>
              <a:t>Urban unemployment remains consistently higher than rural</a:t>
            </a:r>
          </a:p>
          <a:p>
            <a:r>
              <a:rPr lang="en-US" sz="2400" dirty="0"/>
              <a:t>GDP shows steady long-term growth despite short-term dips</a:t>
            </a:r>
          </a:p>
          <a:p>
            <a:r>
              <a:rPr lang="en-US" sz="2400" dirty="0"/>
              <a:t>Inflation is generally stable with a few peak years</a:t>
            </a:r>
          </a:p>
          <a:p>
            <a:r>
              <a:rPr lang="en-US" sz="2400" dirty="0"/>
              <a:t>Certain states combine high unemployment with moderate GDP, signaling need for stimulus</a:t>
            </a:r>
          </a:p>
          <a:p>
            <a:pPr marL="0" indent="0">
              <a:buNone/>
            </a:pPr>
            <a:endParaRPr lang="en-US" b="1" i="1" dirty="0"/>
          </a:p>
          <a:p>
            <a:endParaRPr lang="en-US" b="1" i="1" dirty="0"/>
          </a:p>
          <a:p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7314E5B-4B31-D9DE-7516-D69E71B98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620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06595-2D1D-00E3-19E3-DFED50845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Economic Performance snapshot – key performance indicators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5798CA-7215-F30E-B6EC-924D2C923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03" y="1690688"/>
            <a:ext cx="11179277" cy="122903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4A9342-0231-8614-87C9-404333964B75}"/>
              </a:ext>
            </a:extLst>
          </p:cNvPr>
          <p:cNvSpPr txBox="1"/>
          <p:nvPr/>
        </p:nvSpPr>
        <p:spPr>
          <a:xfrm>
            <a:off x="580103" y="3146322"/>
            <a:ext cx="1117927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Balanced Economic Indicators: Average inflation remains moderate, suggesting relative price stability.</a:t>
            </a:r>
          </a:p>
          <a:p>
            <a:endParaRPr lang="en-US" dirty="0"/>
          </a:p>
          <a:p>
            <a:r>
              <a:rPr lang="en-US" dirty="0"/>
              <a:t>Urban–Rural Employment Gap: Urban unemployment is noticeably higher than rural, highlighting a need for targeted urban job creation and skill-development programs.</a:t>
            </a:r>
          </a:p>
          <a:p>
            <a:endParaRPr lang="en-US" dirty="0"/>
          </a:p>
          <a:p>
            <a:r>
              <a:rPr lang="en-US" dirty="0"/>
              <a:t>Healthy Economic Output: Total GDP indicates a robust economic foundation, enabling investment in employment and infrastructure.</a:t>
            </a:r>
          </a:p>
          <a:p>
            <a:endParaRPr lang="en-US" dirty="0"/>
          </a:p>
          <a:p>
            <a:r>
              <a:rPr lang="en-US" dirty="0"/>
              <a:t>Inflation Control Success: The difference between total and average inflation suggests seasonal fluctuations are being managed effectively.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7039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89298-1934-375A-E790-96FCAB247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68" y="365125"/>
            <a:ext cx="11058832" cy="146367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Rural And Urban Unemployment By Years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DF99CD9-4198-8E70-D862-96DA7B275F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632" y="2038861"/>
            <a:ext cx="4486013" cy="4050891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6EC5186-6C30-0488-AC42-04743F25D4E1}"/>
              </a:ext>
            </a:extLst>
          </p:cNvPr>
          <p:cNvSpPr txBox="1"/>
          <p:nvPr/>
        </p:nvSpPr>
        <p:spPr>
          <a:xfrm>
            <a:off x="501445" y="1828800"/>
            <a:ext cx="643029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Balanced Economic Indicators: Average inflation remains moderate, suggesting relative price stability.</a:t>
            </a:r>
          </a:p>
          <a:p>
            <a:endParaRPr lang="en-US" dirty="0"/>
          </a:p>
          <a:p>
            <a:r>
              <a:rPr lang="en-US" dirty="0"/>
              <a:t>Urban–Rural Employment Gap: Urban unemployment is noticeably higher than rural unemployment, highlighting a need for targeted urban job creation and skill development programs.</a:t>
            </a:r>
          </a:p>
          <a:p>
            <a:endParaRPr lang="en-US" dirty="0"/>
          </a:p>
          <a:p>
            <a:r>
              <a:rPr lang="en-US" dirty="0"/>
              <a:t>Healthy Economic Output: Total GDP indicates a robust economic foundation, enabling investment in employment and infrastructure.</a:t>
            </a:r>
          </a:p>
          <a:p>
            <a:endParaRPr lang="en-US" dirty="0"/>
          </a:p>
          <a:p>
            <a:r>
              <a:rPr lang="en-US" dirty="0"/>
              <a:t>Inflation Control Success: The difference between total and average inflation suggests seasonal fluctuations are being managed effectively.</a:t>
            </a:r>
          </a:p>
        </p:txBody>
      </p:sp>
    </p:spTree>
    <p:extLst>
      <p:ext uri="{BB962C8B-B14F-4D97-AF65-F5344CB8AC3E}">
        <p14:creationId xmlns:p14="http://schemas.microsoft.com/office/powerpoint/2010/main" val="327543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AF5F-2FD6-50D9-9F1B-00EF09217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48" y="365125"/>
            <a:ext cx="11186652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Rural And Urban Unemployment By States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4D63A4-8C26-EEE3-460D-9C03B850D7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187" y="1406013"/>
            <a:ext cx="6115665" cy="484941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FFF3C4-446A-5C8D-4A1B-BCE708983374}"/>
              </a:ext>
            </a:extLst>
          </p:cNvPr>
          <p:cNvSpPr txBox="1"/>
          <p:nvPr/>
        </p:nvSpPr>
        <p:spPr>
          <a:xfrm>
            <a:off x="422786" y="2319952"/>
            <a:ext cx="527992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Unemployment States: Lakshadweep, Nagaland, and Goa have the highest overall unemployment rates.</a:t>
            </a:r>
          </a:p>
          <a:p>
            <a:endParaRPr lang="en-US" dirty="0"/>
          </a:p>
          <a:p>
            <a:r>
              <a:rPr lang="en-US" dirty="0"/>
              <a:t>Southern States: Kerala and Tamil Nadu show lower urban unemployment compared to rural areas.</a:t>
            </a:r>
          </a:p>
          <a:p>
            <a:endParaRPr lang="en-US" dirty="0"/>
          </a:p>
          <a:p>
            <a:r>
              <a:rPr lang="en-US" dirty="0"/>
              <a:t>Urban Unemployment: Delhi and Jammu &amp; Kashmir have notably higher urban unemployment.</a:t>
            </a:r>
          </a:p>
          <a:p>
            <a:endParaRPr lang="en-US" dirty="0"/>
          </a:p>
          <a:p>
            <a:r>
              <a:rPr lang="en-US" dirty="0"/>
              <a:t>National Overview: Unemployment is balanced between rural and urban areas, with some states like Uttarakhand having lower rates.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5205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18ACA-D635-E172-5690-72205FF58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781" y="365125"/>
            <a:ext cx="10872019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GDP By States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0D64C1-35C4-E570-4998-D6B253E0F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936" y="1966452"/>
            <a:ext cx="5331440" cy="426719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710853-5254-0419-3E71-A23F64763AE8}"/>
              </a:ext>
            </a:extLst>
          </p:cNvPr>
          <p:cNvSpPr txBox="1"/>
          <p:nvPr/>
        </p:nvSpPr>
        <p:spPr>
          <a:xfrm>
            <a:off x="174625" y="2153264"/>
            <a:ext cx="632449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Top Contributors: Uttar Pradesh (8.65%) and Maharashtra (7.51%) lead in GDP share.</a:t>
            </a:r>
          </a:p>
          <a:p>
            <a:endParaRPr lang="en-IN" dirty="0"/>
          </a:p>
          <a:p>
            <a:r>
              <a:rPr lang="en-IN" dirty="0"/>
              <a:t>Strong Performers: Tamil Nadu, Gujarat, and Rajasthan also show strong economic output.</a:t>
            </a:r>
          </a:p>
          <a:p>
            <a:endParaRPr lang="en-IN" dirty="0"/>
          </a:p>
          <a:p>
            <a:r>
              <a:rPr lang="en-IN" dirty="0"/>
              <a:t>Low Contributors: Meghalaya and Andaman &amp; Nicobar Islands contribute less than 1%.</a:t>
            </a:r>
          </a:p>
          <a:p>
            <a:endParaRPr lang="en-IN" dirty="0"/>
          </a:p>
          <a:p>
            <a:r>
              <a:rPr lang="en-IN" dirty="0"/>
              <a:t>Stable States: Goa, Kerala, and Chhattisgarh show moderate but steady GDP contributions.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4692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75A5F-A72E-4633-0A43-3D6657C5D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Inflation By Years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BE0AEDC-20D2-2D95-8619-8A743EA0E0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607" y="1966453"/>
            <a:ext cx="5270090" cy="4526422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C45154-BC7A-21AA-09EF-B469E2689F87}"/>
              </a:ext>
            </a:extLst>
          </p:cNvPr>
          <p:cNvSpPr txBox="1"/>
          <p:nvPr/>
        </p:nvSpPr>
        <p:spPr>
          <a:xfrm>
            <a:off x="275303" y="1877962"/>
            <a:ext cx="61254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highest average inflation was recorded in 2017 (6.96%), followed closely by 2011 (6.49%) and 2019 (6.10%).</a:t>
            </a:r>
          </a:p>
          <a:p>
            <a:endParaRPr lang="en-US" dirty="0"/>
          </a:p>
          <a:p>
            <a:r>
              <a:rPr lang="en-US" dirty="0"/>
              <a:t>The lowest inflation was in 2015 (3.65%), showing a significant dip compared to surrounding years.</a:t>
            </a:r>
          </a:p>
          <a:p>
            <a:endParaRPr lang="en-US" dirty="0"/>
          </a:p>
          <a:p>
            <a:r>
              <a:rPr lang="en-US" dirty="0"/>
              <a:t>Most years fluctuated between 4% and 6%, indicating moderate but persistent inflation.</a:t>
            </a:r>
          </a:p>
          <a:p>
            <a:endParaRPr lang="en-US" dirty="0"/>
          </a:p>
          <a:p>
            <a:r>
              <a:rPr lang="en-US" dirty="0"/>
              <a:t>The trend suggests volatility across the decade, with alternating high and low phases rather than steady growth or decline.</a:t>
            </a:r>
          </a:p>
          <a:p>
            <a:endParaRPr lang="en-US" dirty="0"/>
          </a:p>
          <a:p>
            <a:r>
              <a:rPr lang="en-US" dirty="0"/>
              <a:t>Policymakers and businesses would need to plan for cyclical inflationary pressure, especially in years following sharp declines (e.g., 2015 → 2017 spike).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7763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88D3B-8DB8-430A-D99C-5CC552637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303" y="365125"/>
            <a:ext cx="11680723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Inflation By States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C02224-B191-51A9-F4A1-1FFAE6CB2F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465" y="1325563"/>
            <a:ext cx="5496232" cy="516731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EA431C-7943-2119-A11F-50F99F571753}"/>
              </a:ext>
            </a:extLst>
          </p:cNvPr>
          <p:cNvSpPr txBox="1"/>
          <p:nvPr/>
        </p:nvSpPr>
        <p:spPr>
          <a:xfrm>
            <a:off x="58993" y="1465006"/>
            <a:ext cx="594851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r>
              <a:rPr lang="en-US" dirty="0"/>
              <a:t>Odisha recorded the highest average inflation (7.0%), standing out significantly from other states.</a:t>
            </a:r>
          </a:p>
          <a:p>
            <a:endParaRPr lang="en-US" dirty="0"/>
          </a:p>
          <a:p>
            <a:r>
              <a:rPr lang="en-US" dirty="0"/>
              <a:t>Chandigarh (6.0%) is the second highest, followed by a cluster of states around 5.7% including Andhra Pradesh, Uttar Pradesh, Meghalaya, Kerala, and West Bengal.</a:t>
            </a:r>
          </a:p>
          <a:p>
            <a:endParaRPr lang="en-US" dirty="0"/>
          </a:p>
          <a:p>
            <a:r>
              <a:rPr lang="en-US" dirty="0"/>
              <a:t>Most states fall between 5.0% and 5.7%, showing a relatively consistent inflation pattern across regions.</a:t>
            </a:r>
          </a:p>
          <a:p>
            <a:endParaRPr lang="en-US" dirty="0"/>
          </a:p>
          <a:p>
            <a:r>
              <a:rPr lang="en-US" dirty="0"/>
              <a:t>Lakshadweep had the lowest average inflation (4.9%), indicating better price stability compared to other regions.</a:t>
            </a:r>
          </a:p>
          <a:p>
            <a:endParaRPr lang="en-US" dirty="0"/>
          </a:p>
          <a:p>
            <a:r>
              <a:rPr lang="en-US" dirty="0"/>
              <a:t>The data highlights regional disparities, with eastern states like Odisha and West Bengal showing higher inflation compared to smaller UTs like Lakshadweep and Dadra &amp; Nagar Haveli.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5447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05919-0A51-874C-373F-B30BE6A44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GDP By Years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759C278-B781-81DF-821B-AA2660B4F9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123" y="1186600"/>
            <a:ext cx="5624051" cy="5106046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C339EB-4E29-1842-9E83-0C34588FDA73}"/>
              </a:ext>
            </a:extLst>
          </p:cNvPr>
          <p:cNvSpPr txBox="1"/>
          <p:nvPr/>
        </p:nvSpPr>
        <p:spPr>
          <a:xfrm>
            <a:off x="245806" y="1690688"/>
            <a:ext cx="625331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GDP has shown a steady upward trend from 2011 (0.79bn) to 2020 (2.73bn).</a:t>
            </a:r>
          </a:p>
          <a:p>
            <a:endParaRPr lang="en-US" dirty="0"/>
          </a:p>
          <a:p>
            <a:r>
              <a:rPr lang="en-US" dirty="0"/>
              <a:t>A slight dip occurred in 2014 (1.00bn) after crossing 1.03bn in 2013, but the economy recovered strongly afterward.</a:t>
            </a:r>
          </a:p>
          <a:p>
            <a:endParaRPr lang="en-US" dirty="0"/>
          </a:p>
          <a:p>
            <a:r>
              <a:rPr lang="en-US" dirty="0"/>
              <a:t>The period 2014–2017 marked consistent growth, with GDP rising from 1.00bn to 1.71bn.</a:t>
            </a:r>
          </a:p>
          <a:p>
            <a:endParaRPr lang="en-US" dirty="0"/>
          </a:p>
          <a:p>
            <a:r>
              <a:rPr lang="en-US" dirty="0"/>
              <a:t>From 2017 to 2019, growth remained stable but moderate, moving from 1.71bn to 2.03bn.</a:t>
            </a:r>
          </a:p>
          <a:p>
            <a:endParaRPr lang="en-US" dirty="0"/>
          </a:p>
          <a:p>
            <a:r>
              <a:rPr lang="en-US" dirty="0"/>
              <a:t>The most significant jump came in 2020, when GDP surged to 2.73bn, the highest in the decade.</a:t>
            </a:r>
          </a:p>
          <a:p>
            <a:endParaRPr lang="en-US" dirty="0"/>
          </a:p>
          <a:p>
            <a:r>
              <a:rPr lang="en-US" dirty="0"/>
              <a:t>Overall, the data indicate a long-term growth trajectory, with short-term dips being quickly corrected.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9887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746</Words>
  <Application>Microsoft Office PowerPoint</Application>
  <PresentationFormat>Widescreen</PresentationFormat>
  <Paragraphs>77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Wingdings</vt:lpstr>
      <vt:lpstr>Office Theme</vt:lpstr>
      <vt:lpstr>Economic Performance Analysis of Indian States (2011–2020)</vt:lpstr>
      <vt:lpstr>Executive Summary</vt:lpstr>
      <vt:lpstr>Overall Economic Performance snapshot – key performance indicators </vt:lpstr>
      <vt:lpstr>Avg Rural And Urban Unemployment By Years</vt:lpstr>
      <vt:lpstr>Avg Rural And Urban Unemployment By States </vt:lpstr>
      <vt:lpstr>Total GDP By States </vt:lpstr>
      <vt:lpstr>Average Inflation By Years </vt:lpstr>
      <vt:lpstr>Average Inflation By States </vt:lpstr>
      <vt:lpstr>Total GDP By Years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chaitali pawar</dc:creator>
  <cp:lastModifiedBy>chaitali pawar</cp:lastModifiedBy>
  <cp:revision>1</cp:revision>
  <dcterms:created xsi:type="dcterms:W3CDTF">2025-09-20T10:23:03Z</dcterms:created>
  <dcterms:modified xsi:type="dcterms:W3CDTF">2025-10-10T16:15:33Z</dcterms:modified>
</cp:coreProperties>
</file>